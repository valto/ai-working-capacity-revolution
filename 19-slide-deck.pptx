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neutral research synthesis, not a vendor report or investment recommendation — state that framing before anything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contract with the audience — every number that follows is traceable to one of these five buckets.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room which lens they're likely reading from, but stress that the deck deliberately refuses to rank the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whole paper in miniature; everything after it is evidence for or against pieces of this one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reader's actual question, not a rhetorical one — three interested parties, three different 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Resist any temptation to declare a winner here — the paper's whole editorial stance depends on not doing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is not to pick a side — it's to show the same facts support two different narratives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show the paper's discipline in action — catching and correcting a benchmark misattribution rather than repeating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today's capital is a bet against a hardware curve both the vendor and independent analysts agree is moving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ladder is the spine of the entire cost analysis — every dollar figure later in the deck sits on one specific rung, never blended with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gap is the point, not a mistake to reconcile — "generate your own power" vs. "buy from the grid." The size of the gap is tier- and utilization-dependent, not a fixed multiple.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Band 4's open-ended ceiling is informed by, not proven by, this one company's internal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spread is arithmetic, not opinion — but which column matters depends entirely on which lens is asking.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guardrail slide against naive "$/hour AI vs. $/hour human" headlines.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the disclosure here explicitly — this section sits closest to the author's own commercial 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of the six lenses experiences this shift differently — no priority ordering intended.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hinge slide — everything before it is cost/capacity; everything after assumes this boundary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to reframe "who owns AI" as a bad question — it's really six or seven different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cooperative figures describe two different hardware tiers (a DGX Spark pool vs. a shared workstation-class machine), not a discrepancy in one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explicitly that this analogy is the author's own structural comparison, flagged as such rather than presented as settled.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non-advice boundary explicitly here — every number is a scenario, not a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this as a "later, illustrative extension," not a general robotics-economics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Reiterate — these are grouped for slide economy only, not because any lens outranks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open question, not a resolved answer — the paper deliberately does not decide this for the reader.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pointing to the workbooks as the place where the audience can go build their own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D1B2A"/>
                </a:solidFill>
              </a:defRPr>
            </a:pPr>
            <a:r>
              <a:t>Why Are They Spending Trillions on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444444"/>
                </a:solidFill>
              </a:defRPr>
            </a:pPr>
            <a:r>
              <a:t>The numbers and economics behind the AI working-capacity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44444"/>
                </a:solidFill>
              </a:defRPr>
            </a:pPr>
            <a:r>
              <a:t>Author: Valto Loikkanen  ·  v1.0 research package  ·  Factual source cut-off 2026-08-13</a:t>
            </a:r>
          </a:p>
          <a:p>
            <a:pPr algn="ctr">
              <a:defRPr sz="1600">
                <a:solidFill>
                  <a:srgbClr val="444444"/>
                </a:solidFill>
              </a:defRPr>
            </a:pPr>
            <a:r>
              <a:t>Licence: CC BY 4.0 — Attribution 4.0 International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Method: Five Evidence Classes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OBSERVED FACT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Primary source, checked on/before cut-off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ATTRIBUTED STATEMENT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On-record claim, not auto-proven true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DERIVED CALCULATION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Formula always shown, never just a result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SCENARIO ASSUMPTION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Editable input, not a market figure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INTERPRETATION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Labelled reading, never presented as fact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Every claim in this deck carries one of these five tags, exactly as in the source paper.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No fabricated quotes, figures, or URLs; unverifiable items are labelled UNVERIFIABLE rather than smoothed 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How to Use This Research: Six Equal Lenses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Individual  ·  SME/owner-manager  ·  Finance/infrastructure investor  ·  Government/region/community  ·  AI builder/operator  ·  Educator/researcher/journalist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No lens is prioritized over any other — a deliberate editorial stance held throughout, not an oversight [INTERP, stated editorial policy].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Each lens has a different entry point into the same chain: energy → hardware → compute → models → tokens → AI working capacity → work → outcomes → value → agency.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Executive Summary: The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Chain: energy → hardware → compute → models → tokens → AI working capacity → digital work → outcomes → value → agency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Parallel physical chain: capital + energy + maintenance + utilisation + orchestration → humanoid working capacity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Headline: Aug 10, 2026 — Nvidia + 6 firms (Apollo, Blackstone, BlackRock, Brookfield, Goldman Sachs, KKR) MOUs to mobilize &gt;$500B [FACT]; Fink: "trillions of dollars over the coming years" [ATTR]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Ten-second takeaway: trillions are committed on a belief that cheap AI working capacity is coming — working capacity is not value, and nothing here proves that belief right.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Part I: Why Are They Spending Trillions?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Aug 10, 2026: Nvidia signs MOUs with six asset managers/banks to mobilize &gt;$500B in third-party AI-infrastructure capital [FACT, CNBC/Fortune]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Huang: "each gigawatt is something like $50, $60 billion" [ATTR, Huang]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Three structurally different, differently-incentivized answers on offer: compute as infrastructure (Huang), intelligence as utility (Altman), superintelligence as personal (Zuckerberg) — shown side by side, none endorsed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Three Voices, Side by Side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Framing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Representative statement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Huang (Nvidia)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Compute as infrastructure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Chips are an "investable asset"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ATTR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Altman (OpenAI)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Intelligence as utility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"Cost falls ~10x/12mo, lower prices → more use"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ATTR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Zuckerberg (Meta)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Superintelligence as personal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"Individual empowerment as source of prosperity"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FACT / ATTR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49039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None of the three claims is independently audited; that they were said is confirmed, whether they're true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Bubble, Infrastructure Transition, or Both?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Supports "transition": signed $500B MOUs are real [FACT]; independent power-demand forecasts (BCG 50-80GW, S&amp;P Global 64.4GW in 2025) are directionally consistent [ATTR, low-confidence sourcing]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Supports "bubble caution": Huang/Fink's own per-GW and demand figures are self-interested ATTR statements; independent analyst estimates ($35-49B/GW) sit below Huang's $50-60B [ATTR]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Disciplined position: both readings draw on overlapping, not competing, facts [INTERP] — the same MOU can be real infrastructure and include mispriced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Part II: Electricity, Power, and Tokens per Watt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GB300 NVL72 rack: 135kW TDP / 155kW peak per OEM spec [FACT, Lenovo]; NVIDIA itself publishes no power figure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MLPerf v6.0: "2.5M tokens/sec" is a 4-rack/288-GPU aggregate, not a single-rack figure — a common misattribution corrected here [FACT]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Tokens/watt is not one number per chip — it ranges roughly 1.7M-5.2M tokens/sec/MW depending on latency tolerance [CALC/INTERP]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Hardware as Capital Equipment, and Its Financing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Huang frames Nvidia's platform as an "investable asset" [ATTR, Huang, CNBC Aug 10 2026]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Capital stack observed vs. assumed: DGX Spark $4,699 MSRP [FACT]; HGX B300 has no public price [ASSUMPTION]; GB300 rack ~$4M is an illustrative analyst estimate [ASSUMPTION]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Depreciation risk: Vera Rubin claimed "up to 10x more tokens/MW" vs GB200 [ATTR, vendor]; SemiAnalysis's independent figure is 2-5.4x [FACT-adjacent]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The Eight Cost Layers (Never Collapsed Into One Number)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raw energy → hardware-amortized → financed asset → full operating infrastructure → capacity/utilisation → token production → workload/AI-working-capacity → outcome &amp; value (never mechanically derived)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Worked EUR example: financing term alone moves cost from €0.688/M tokens to €1.435/M tokens at 50% utilisation [CALC]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Utilisation is usually the single largest lever at every scale [INTERP, cross-workbook pattern]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Owned Production Cost vs. Retail API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Self-correction preserved deliberately: retail lab prices are a finished, marked-up product price, not a cost basis for owned hardware [method note]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Retail benchmark: Claude Sonnet 5 $2/$10 per M tokens [FACT]; GPT-5.6 Terra ~$2/$12 [ATTR]; Gemini 3.1 Pro Preview $2/$12 [FACT]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Owned production: Home $1.37-$11.89/M tokens (canonical); Hyperscale ~$0.091-0.312/M tokens, canonical full-layer, mid $0.133/M [CALC] — Hyperscale sits 1-2 orders of magnitude below retail; Home sits closer to, and at low utilization inside, the cheapest retail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Part III: Usage-Intensity 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Four bands (tokens/AI-working-hour, all SCENARIO ASSUMPTION): Chat/advisor (10K-30K) · Active copilot (60K-120K) · Delegated agent (200K-600K) · Heavy multi-agent orchestration (1M-12M+)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OpenAI's own unaudited telemetry: Codex = 99.8% of weekly internal output tokens; 99th-percentile users ran 60+ agent-hours/day [ATTR, OpenAI, self-reported]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These describe OpenAI staff using OpenAI's own product — not a general-population statistic [caveat, stated explicitly]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From Tokens to $/AI-Working-Hour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Formula: $/AI-working-hour = (tokens/hour ÷ 1,000,000) × ($/M tokens at that tier) [CALC]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At delegated-agent band, central case: Hyperscale $0.053/hr vs. Home $1.268/hr vs. Retail-API $3.60/hr [CALC] — a ~68x spread across tiers at the same usage band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Self-hosting is not automatically the cheapest path — its case rests on control and independence, not undercutting retail [INTERP]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Quality Multipliers and the Limits of Human/AI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Eight factors shape effective working capacity: capability, reliability, initiative, judgment, creativity, context, tools, information [INTERP, author's own framework]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Reliability and information act as multipliers, not add-ons — unreliable capacity caps how much can safely be delegated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What IS comparable: throughput, marginal cost, capacity elasticity. What is NOT: workload complexity, quality/correctness, supervision burden, context completeness — kept visibly separate, not folded into one multiplier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Part IV: Information as AI's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Author's own framing: information is "the operating system for AI" [FACT that phrase appears; INTERP as underlying claim] — disclosed author interest in this framing (Prifina/Digiole/peecos)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Same model + different information = very different effective working capacity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Zuckerberg: "fully private mode...even Meta cannot see" [ATTR]; Altman's usage anecdote implies ~1,000,000x token growth per heaviest user, 2019→2026 [CALC on ATTR inputs]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AI Maturity and the Shifting Human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Two axes: how work gets done (Advise → Cowork → Delegate → Lead) and scale of orchestration (individual → team → workforce) [INTERP, author's framework, partially unverified public form]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Three framings of the same shift: Altman on freedom/agency [ATTR]; Zuckerberg on balance of power [FACT/ATTR]; Huang on capital allocation [ATTR] — none more correct than the others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As execution gets cheap, "what should we do" replaces "how do we get it done" as the load-bearing human question [INTERP]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Value Can Be Positive, Zero, or Negative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Working capacity ≠ value. Orchestration multiplies capacity, not judgment [INTERP]: "a cheap, fast, wrong answer scaled across a multi-agent team is still cheap and wrong at scale."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Three human analogies: brilliant professor vs. street-smart entrepreneur; new CEO vs. veteran employee; world-class investor vs. empathetic salesperson — each shows capability ≠ fit ≠ value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No production tier or ownership architecture is shown by this paper's evidence to be inherently more likely to produce positive value than another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Part V: The Ownership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Layers, each separately ownable: energy, hardware, compute (access), models, information, agents, identity, governance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Concentration varies sharply by layer: hardware manufacturing is extremely concentrated [FACT/INTERP]; information is the least standardized/portable layer [INTERP]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No single actor owns "AI" end to end — ownership questions must be asked layer by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Six Coexisting Access Models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4413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Centralized platform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Highest convenience, lowest control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Enterprise dedicated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e.g., IBM Cloud/Together AI $240M deal [FACT]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Open models on owned hardware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Up to 1-2 orders of magnitude below retail at hyperscale; narrower at home/cooperative scale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Private/individual ownership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Full control, full capital risk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Cooperative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€19.50-23/mo (DGX Spark pool) or €42/mo (shared workstation-class) — two hardware tiers, not one contested figure [CALC/FACT]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Local/regional capacity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Resilience/sovereignty framing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None asserted as universally superior — trade-offs differ across scale, cost, privacy, resilience, convenience, control [INTERP]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Electricity-Grid Analogy and Digital Sovereignty Beyond 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Analogy: home solar → cooperative → commercial producer → utility-scale plant → grid exchange, mapped onto AI compute tiers [INTERP, author's own commentary]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Weakest link: no frictionless spot market for AI compute yet exists, unlike electricity or Bitcoin hashrate [FACT/INTERP]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Sovereignty reframed via five questions: control, portability, exit, governance, continuity — not just server geography [INTERP, framework proposed in this paper]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Part VI: Scale Scenarios, Tier by Tier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Capital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$/M tokens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Home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$4,699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$1.37-11.89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Cooperative (DGX Spark pool)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~$47K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$1.99-7.62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Professional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unofficial/ASSUMPTION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$0.044-0.146 (no opex — least evidenced)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Hyperscale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~$16M/4-rack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$0.091-0.312, canonical mid $0.133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Governing levers: utilisation (3.5-4x swing), financing term, interactivity setting — all editable, none a forecast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Cost-per-hour of capacity is not value — a 500-800x swing between production cost and retail pricing shows how meaningless a bare figure is without its pricing assumption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Humanoid Robots as Embodied Working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Real market range: Unitree G1 from $13.5K [FACT] to Agility Digit ~$250K [ATTR, secondary]; illustrative €25K base case sits within this spread [INTERP]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Same utilisation pattern as digital tiers: 2,000→8,000 hrs/yr cuts cost/hour ~3.5-4x [CALC]; electricity is not the binding cost here (unlike token production)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Scope explicitly narrow: excludes supervision, insurance, downtime — every figure is a cost floor, not a full commercial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Part VII: Six Lenses, Equal Weight, No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Individual: rent vs. own break-even sits near the copilot band, not chat band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SME: delivery innovation, not product innovation, is the accessible opportunity [ATTR, author's prior work]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Investor/Government/Builder/Educator: same MOU and cost figures, read through different risk lenses — interested-party statements (Huang, Fink) flagged consistently as ATTR, not audited 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Closing: Opportunity, Not Inevitability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Capital and infrastructure figures (Parts II-IV) support reading this as opportunity, not destiny [INTERP, editorial choice]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The unknown variable: adoption, organizational change, and time — not model capability — appear to be the binding constraint [INTERP]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Closing synthesis: "how do we get it done" is getting cheaper faster than most say plainly; "what should we do" has not gotten any easier at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factual source cut-off 2026-08-13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Licence and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Licensed under CC BY 4.0. Suggested attribution: Research synthesis and modelling by Valto Loikkanen, assisted by AI.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This material is educational research and scenario analysis — not investment, legal, tax, procurement, or policy advice.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Companion workbooks (Global Baseline, AI Working-Capacity Conversion, Token-Factory Scenarios, Investment-Thesis Notes, Humanoid Working-Capacity, Localized/EUR-Finland template) available for readers to rebuild any model with their own inputs.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